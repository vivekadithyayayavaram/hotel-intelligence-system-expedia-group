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325880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5452" y="132588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87184" y="132588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28916" y="132588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48" y="132588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2380" y="1325880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54112" y="132588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95844" y="132588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7576" y="132588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79308" y="132588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325880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62772" y="132588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04504" y="132588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146761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5452" y="1467612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87184" y="146761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28916" y="146761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0648" y="146761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12380" y="146761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54112" y="1467612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95844" y="146761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37576" y="146761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79308" y="146761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46761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62772" y="1467612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04504" y="146761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160934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5452" y="160934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87184" y="1609344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28916" y="160934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70648" y="160934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12380" y="160934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54112" y="160934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95844" y="1609344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37576" y="160934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79308" y="160934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160934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62772" y="160934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04504" y="1609344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03720" y="175107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45452" y="175107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87184" y="175107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28916" y="1751076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70648" y="175107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12380" y="175107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54112" y="175107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95844" y="175107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37576" y="1751076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79308" y="175107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21040" y="175107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62772" y="175107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04504" y="175107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03720" y="189280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45452" y="189280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87184" y="189280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28916" y="189280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70648" y="1892808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12380" y="189280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54112" y="189280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95844" y="189280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37576" y="189280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79308" y="1892808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21040" y="189280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62772" y="189280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04504" y="189280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03720" y="2034540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45452" y="203454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87184" y="203454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28916" y="203454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70648" y="203454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12380" y="2034540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54112" y="203454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95844" y="203454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37576" y="203454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79308" y="203454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321040" y="2034540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462772" y="203454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04504" y="203454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03720" y="217627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45452" y="2176272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87184" y="217627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28916" y="217627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70648" y="217627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12380" y="217627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54112" y="2176272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895844" y="217627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037576" y="217627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79308" y="217627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321040" y="217627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462772" y="2176272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604504" y="217627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903720" y="231800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45452" y="231800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87184" y="2318004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28916" y="231800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470648" y="231800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12380" y="231800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54112" y="231800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895844" y="2318004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37576" y="231800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179308" y="231800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321040" y="231800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462772" y="231800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604504" y="2318004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03720" y="245973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045452" y="245973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187184" y="245973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328916" y="2459736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470648" y="245973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612380" y="245973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754112" y="245973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895844" y="245973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037576" y="2459736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179308" y="245973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321040" y="245973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462772" y="245973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604504" y="2459736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903720" y="260146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045452" y="260146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187184" y="260146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328916" y="260146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70648" y="2601468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12380" y="260146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754112" y="260146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895844" y="260146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37576" y="260146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179308" y="2601468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321040" y="260146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462772" y="260146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604504" y="2601468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903720" y="2743200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045452" y="274320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187184" y="274320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328916" y="274320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470648" y="274320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612380" y="2743200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754112" y="274320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895844" y="274320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037576" y="274320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179308" y="274320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321040" y="2743200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462772" y="274320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604504" y="2743200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903720" y="288493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045452" y="2884932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87184" y="288493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328916" y="288493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470648" y="288493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612380" y="288493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754112" y="2884932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895844" y="288493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037576" y="288493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179308" y="288493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321040" y="288493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462772" y="2884932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604504" y="2884932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903720" y="302666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045452" y="302666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187184" y="3026664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328916" y="302666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470648" y="302666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612380" y="302666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754112" y="302666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895844" y="3026664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037576" y="302666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179308" y="302666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321040" y="302666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462772" y="3026664"/>
            <a:ext cx="56693" cy="56693"/>
          </a:xfrm>
          <a:prstGeom prst="ellipse">
            <a:avLst/>
          </a:prstGeom>
          <a:solidFill>
            <a:srgbClr val="2A40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604504" y="3026664"/>
            <a:ext cx="56693" cy="56693"/>
          </a:xfrm>
          <a:prstGeom prst="ellipse">
            <a:avLst/>
          </a:prstGeom>
          <a:solidFill>
            <a:srgbClr val="3550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858000" y="3246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reviews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8915400" y="2194560"/>
            <a:ext cx="182880" cy="164592"/>
          </a:xfrm>
          <a:prstGeom prst="rightArrow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390888" y="170992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573768" y="170992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756648" y="170992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390888" y="189280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573768" y="189280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756648" y="189280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390888" y="207568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573768" y="207568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756648" y="207568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390888" y="225856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573768" y="225856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756648" y="225856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390888" y="244144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573768" y="244144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756648" y="244144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390888" y="262432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573768" y="262432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756648" y="2624328"/>
            <a:ext cx="91440" cy="91440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9336024" y="3246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opinion units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10149840" y="2194560"/>
            <a:ext cx="182880" cy="164592"/>
          </a:xfrm>
          <a:prstGeom prst="rightArrow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616184" y="1783080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945368" y="1783080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1274552" y="1783080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616184" y="2002536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945368" y="2002536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1274552" y="2002536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616184" y="2221992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945368" y="2221992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1274552" y="2221992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616184" y="2441448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945368" y="2441448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1274552" y="2441448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616184" y="2660904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945368" y="2660904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1274552" y="2660904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0561320" y="3246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aspect dimensions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502920" y="15727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 Group Campus Hackathon 2026  ·  Innovation Round</a:t>
            </a:r>
            <a:endParaRPr lang="en-US" sz="1100" dirty="0"/>
          </a:p>
        </p:txBody>
      </p:sp>
      <p:sp>
        <p:nvSpPr>
          <p:cNvPr id="210" name="Text 208"/>
          <p:cNvSpPr/>
          <p:nvPr/>
        </p:nvSpPr>
        <p:spPr>
          <a:xfrm>
            <a:off x="502920" y="19202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Intelligence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5000" dirty="0"/>
          </a:p>
        </p:txBody>
      </p:sp>
      <p:sp>
        <p:nvSpPr>
          <p:cNvPr id="211" name="Text 209"/>
          <p:cNvSpPr/>
          <p:nvPr/>
        </p:nvSpPr>
        <p:spPr>
          <a:xfrm>
            <a:off x="502920" y="36393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Personalised Hotel Intelligence Platform</a:t>
            </a:r>
            <a:endParaRPr lang="en-US" sz="1700" dirty="0"/>
          </a:p>
        </p:txBody>
      </p:sp>
      <p:sp>
        <p:nvSpPr>
          <p:cNvPr id="212" name="Shape 210"/>
          <p:cNvSpPr/>
          <p:nvPr/>
        </p:nvSpPr>
        <p:spPr>
          <a:xfrm>
            <a:off x="502920" y="4224528"/>
            <a:ext cx="6309360" cy="658368"/>
          </a:xfrm>
          <a:prstGeom prst="roundRect">
            <a:avLst>
              <a:gd name="adj" fmla="val 8333"/>
            </a:avLst>
          </a:prstGeom>
          <a:solidFill>
            <a:srgbClr val="C4A85F"/>
          </a:solidFill>
          <a:ln w="12700">
            <a:solidFill>
              <a:srgbClr val="C4A85F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04088" y="422452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review-intelligence system is confident.  This one is calibrated.</a:t>
            </a:r>
            <a:endParaRPr lang="en-US" sz="1400" dirty="0"/>
          </a:p>
        </p:txBody>
      </p:sp>
      <p:sp>
        <p:nvSpPr>
          <p:cNvPr id="214" name="Shape 212"/>
          <p:cNvSpPr/>
          <p:nvPr/>
        </p:nvSpPr>
        <p:spPr>
          <a:xfrm>
            <a:off x="502920" y="5230368"/>
            <a:ext cx="6309360" cy="0"/>
          </a:xfrm>
          <a:prstGeom prst="line">
            <a:avLst/>
          </a:prstGeom>
          <a:noFill/>
          <a:ln w="12700">
            <a:solidFill>
              <a:srgbClr val="2C4468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02920" y="5358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200" dirty="0"/>
          </a:p>
        </p:txBody>
      </p:sp>
      <p:sp>
        <p:nvSpPr>
          <p:cNvPr id="216" name="Text 214"/>
          <p:cNvSpPr/>
          <p:nvPr/>
        </p:nvSpPr>
        <p:spPr>
          <a:xfrm>
            <a:off x="502920" y="5669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00" dirty="0"/>
          </a:p>
        </p:txBody>
      </p:sp>
      <p:sp>
        <p:nvSpPr>
          <p:cNvPr id="217" name="Text 215"/>
          <p:cNvSpPr/>
          <p:nvPr/>
        </p:nvSpPr>
        <p:spPr>
          <a:xfrm>
            <a:off x="2093976" y="5358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2200" dirty="0"/>
          </a:p>
        </p:txBody>
      </p:sp>
      <p:sp>
        <p:nvSpPr>
          <p:cNvPr id="218" name="Text 216"/>
          <p:cNvSpPr/>
          <p:nvPr/>
        </p:nvSpPr>
        <p:spPr>
          <a:xfrm>
            <a:off x="2093976" y="5669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1000" dirty="0"/>
          </a:p>
        </p:txBody>
      </p:sp>
      <p:sp>
        <p:nvSpPr>
          <p:cNvPr id="219" name="Text 217"/>
          <p:cNvSpPr/>
          <p:nvPr/>
        </p:nvSpPr>
        <p:spPr>
          <a:xfrm>
            <a:off x="3685032" y="5358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200" dirty="0"/>
          </a:p>
        </p:txBody>
      </p:sp>
      <p:sp>
        <p:nvSpPr>
          <p:cNvPr id="220" name="Text 218"/>
          <p:cNvSpPr/>
          <p:nvPr/>
        </p:nvSpPr>
        <p:spPr>
          <a:xfrm>
            <a:off x="3685032" y="5669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000" dirty="0"/>
          </a:p>
        </p:txBody>
      </p:sp>
      <p:sp>
        <p:nvSpPr>
          <p:cNvPr id="221" name="Text 219"/>
          <p:cNvSpPr/>
          <p:nvPr/>
        </p:nvSpPr>
        <p:spPr>
          <a:xfrm>
            <a:off x="5276088" y="5358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222" name="Text 220"/>
          <p:cNvSpPr/>
          <p:nvPr/>
        </p:nvSpPr>
        <p:spPr>
          <a:xfrm>
            <a:off x="5276088" y="5669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aspects</a:t>
            </a:r>
            <a:endParaRPr lang="en-US" sz="1000" dirty="0"/>
          </a:p>
        </p:txBody>
      </p:sp>
      <p:sp>
        <p:nvSpPr>
          <p:cNvPr id="223" name="Text 221"/>
          <p:cNvSpPr/>
          <p:nvPr/>
        </p:nvSpPr>
        <p:spPr>
          <a:xfrm>
            <a:off x="502920" y="623620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·  AURA          Author  ·  [ Your Name ]          Individual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 rating is a scalar. A review is an argument.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48472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 ·  Hotel Intelligence Engine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6720840" cy="822960"/>
          </a:xfrm>
          <a:prstGeom prst="roundRect">
            <a:avLst>
              <a:gd name="adj" fmla="val 6667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83664"/>
            <a:ext cx="384048" cy="384048"/>
          </a:xfrm>
          <a:prstGeom prst="ellipse">
            <a:avLst/>
          </a:prstGeom>
          <a:solidFill>
            <a:srgbClr val="233A5E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79222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066544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reviews across 120 hotels. No traveller reads them. Nobody can.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6720840" cy="822960"/>
          </a:xfrm>
          <a:prstGeom prst="roundRect">
            <a:avLst>
              <a:gd name="adj" fmla="val 6667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798064"/>
            <a:ext cx="384048" cy="384048"/>
          </a:xfrm>
          <a:prstGeom prst="ellipse">
            <a:avLst/>
          </a:prstGeom>
          <a:solidFill>
            <a:srgbClr val="233A5E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70662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destroy nuance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980944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4-star review saying “pure luxury — but the room wasn't clean” collapses to “4”.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6720840" cy="822960"/>
          </a:xfrm>
          <a:prstGeom prst="roundRect">
            <a:avLst>
              <a:gd name="adj" fmla="val 6667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3712464"/>
            <a:ext cx="384048" cy="384048"/>
          </a:xfrm>
          <a:prstGeom prst="ellipse">
            <a:avLst/>
          </a:prstGeom>
          <a:solidFill>
            <a:srgbClr val="233A5E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62102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is the norm, not the exception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895344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47.8% of reviews are internally contradictory — praising one aspect while damning another.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407408"/>
            <a:ext cx="6720840" cy="822960"/>
          </a:xfrm>
          <a:prstGeom prst="roundRect">
            <a:avLst>
              <a:gd name="adj" fmla="val 6667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4626864"/>
            <a:ext cx="384048" cy="384048"/>
          </a:xfrm>
          <a:prstGeom prst="ellipse">
            <a:avLst/>
          </a:prstGeom>
          <a:solidFill>
            <a:srgbClr val="233A5E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453542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field lies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809744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 of reviews carry a rating that contradicts their own text. Measured, not assumed.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5321808"/>
            <a:ext cx="6720840" cy="822960"/>
          </a:xfrm>
          <a:prstGeom prst="roundRect">
            <a:avLst>
              <a:gd name="adj" fmla="val 6667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5541264"/>
            <a:ext cx="384048" cy="384048"/>
          </a:xfrm>
          <a:prstGeom prst="ellipse">
            <a:avLst/>
          </a:prstGeom>
          <a:solidFill>
            <a:srgbClr val="233A5E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5541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544982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recommendations ignore the traveller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5724144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hotel” is not a scalar. A wheelchair user and a backpacker need different answers.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89520" y="16642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NOBODY IS SOLVING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589520" y="1956816"/>
            <a:ext cx="4096512" cy="2331720"/>
          </a:xfrm>
          <a:prstGeom prst="roundRect">
            <a:avLst>
              <a:gd name="adj" fmla="val 2353"/>
            </a:avLst>
          </a:prstGeom>
          <a:solidFill>
            <a:srgbClr val="1B2E4F"/>
          </a:solidFill>
          <a:ln w="15875">
            <a:solidFill>
              <a:srgbClr val="B893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0688" y="21396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Review-intelligence systems are graded on how much they find.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90688" y="265176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incentive produces systems that find things which are not there.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90688" y="32004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hotel partner their cleanliness is collapsing. They spend money.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wrong.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that twice and they stop answering the phone.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89520" y="4480560"/>
            <a:ext cx="4096512" cy="932688"/>
          </a:xfrm>
          <a:prstGeom prst="roundRect">
            <a:avLst>
              <a:gd name="adj" fmla="val 5882"/>
            </a:avLst>
          </a:prstGeom>
          <a:solidFill>
            <a:srgbClr val="C4A85F"/>
          </a:solidFill>
          <a:ln w="12700">
            <a:solidFill>
              <a:srgbClr val="C4A8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4112" y="4480560"/>
            <a:ext cx="37673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are not a rounding error in this product. They are the mechanism by which it loses its users.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5614416"/>
            <a:ext cx="4096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5FC9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“Travellers don't need more reviews — they need trusted intelligence.”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stages. Every claim traceable to a verbatim, citable review.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48472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 ·  Hotel Intelligence Engine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55648"/>
            <a:ext cx="1481328" cy="2103120"/>
          </a:xfrm>
          <a:prstGeom prst="roundRect">
            <a:avLst>
              <a:gd name="adj" fmla="val 3704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847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0936" y="208483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0936" y="2724912"/>
            <a:ext cx="12252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→ archetype + desired_dims. Strips flight intent (31/50).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88820" y="2724912"/>
            <a:ext cx="182880" cy="164592"/>
          </a:xfrm>
          <a:prstGeom prst="rightArrow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5980" y="1755648"/>
            <a:ext cx="1481328" cy="2103120"/>
          </a:xfrm>
          <a:prstGeom prst="roundRect">
            <a:avLst>
              <a:gd name="adj" fmla="val 3704"/>
            </a:avLst>
          </a:prstGeom>
          <a:solidFill>
            <a:srgbClr val="233A5E"/>
          </a:solidFill>
          <a:ln w="19050">
            <a:solidFill>
              <a:srgbClr val="DFB7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53996" y="1847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53996" y="208483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53996" y="2724912"/>
            <a:ext cx="12252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reviews → 112 opinion units. 15 aspects, both polarities.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11880" y="2724912"/>
            <a:ext cx="182880" cy="164592"/>
          </a:xfrm>
          <a:prstGeom prst="rightArrow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755648"/>
            <a:ext cx="1481328" cy="2103120"/>
          </a:xfrm>
          <a:prstGeom prst="roundRect">
            <a:avLst>
              <a:gd name="adj" fmla="val 3704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847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77056" y="208483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77056" y="2724912"/>
            <a:ext cx="12252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× rating–text divergence × duplication → weight.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34940" y="2724912"/>
            <a:ext cx="182880" cy="164592"/>
          </a:xfrm>
          <a:prstGeom prst="rightArrow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2100" y="1755648"/>
            <a:ext cx="1481328" cy="2103120"/>
          </a:xfrm>
          <a:prstGeom prst="roundRect">
            <a:avLst>
              <a:gd name="adj" fmla="val 3704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00116" y="1847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00116" y="208483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00116" y="2724912"/>
            <a:ext cx="12252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Mann–Kendall + FDR gate. Reports the null when there is one.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0" y="2724912"/>
            <a:ext cx="182880" cy="164592"/>
          </a:xfrm>
          <a:prstGeom prst="rightArrow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1755648"/>
            <a:ext cx="1481328" cy="2103120"/>
          </a:xfrm>
          <a:prstGeom prst="roundRect">
            <a:avLst>
              <a:gd name="adj" fmla="val 3704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23176" y="1847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23176" y="208483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123176" y="2724912"/>
            <a:ext cx="12252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over hotel evidence docs built from real opinion units.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481060" y="2724912"/>
            <a:ext cx="182880" cy="164592"/>
          </a:xfrm>
          <a:prstGeom prst="rightArrow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18220" y="1755648"/>
            <a:ext cx="1481328" cy="2103120"/>
          </a:xfrm>
          <a:prstGeom prst="roundRect">
            <a:avLst>
              <a:gd name="adj" fmla="val 3704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46236" y="1847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46236" y="208483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746236" y="2724912"/>
            <a:ext cx="12252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channels + bootstrap 90% CI + accessibility hard filter.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104120" y="2724912"/>
            <a:ext cx="182880" cy="164592"/>
          </a:xfrm>
          <a:prstGeom prst="rightArrow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41280" y="1755648"/>
            <a:ext cx="1481328" cy="2103120"/>
          </a:xfrm>
          <a:prstGeom prst="roundRect">
            <a:avLst>
              <a:gd name="adj" fmla="val 3704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69296" y="1847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69296" y="208483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369296" y="2724912"/>
            <a:ext cx="12252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evidence, risks, why-not counterfactual, schema JSON.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4206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" y="4517136"/>
            <a:ext cx="3657600" cy="1572768"/>
          </a:xfrm>
          <a:prstGeom prst="roundRect">
            <a:avLst>
              <a:gd name="adj" fmla="val 3488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4709160"/>
            <a:ext cx="118872" cy="118872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" y="4626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Unit Compression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5800" y="4956048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166,911 sentences collapse 446:1 into 112 canonical units. We embed 112 strings, not 50,000 reviews — 2s full-corpus extraction, 96.9% aspect accuracy with zero labels, and a vocabulary a human can actually sign off on.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61104" y="4517136"/>
            <a:ext cx="3657600" cy="1572768"/>
          </a:xfrm>
          <a:prstGeom prst="roundRect">
            <a:avLst>
              <a:gd name="adj" fmla="val 3488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43984" y="4709160"/>
            <a:ext cx="118872" cy="118872"/>
          </a:xfrm>
          <a:prstGeom prst="ellipse">
            <a:avLst/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5152" y="4626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Integrity Layer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443984" y="4956048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passes a Benjamini–Hochberg FDR gate. We tested for drift and seasonality, found none, and report the null — then prove the detector works by injecting a synthetic decline.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019288" y="4517136"/>
            <a:ext cx="3657600" cy="1572768"/>
          </a:xfrm>
          <a:prstGeom prst="roundRect">
            <a:avLst>
              <a:gd name="adj" fmla="val 3488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02168" y="4709160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03336" y="4626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generation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02168" y="4956048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in the evidence path. Every quote is verbatim and resolves to a real review_id in the source file. A judge can grep for it.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" y="6236208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14.4s  ·  All 50 profiles: 9.8s (195 ms each)  ·  100% of reviews covered by aspect extraction  ·  Zero-download fallback encoder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layers. Config-driven, deterministic, reproducible from one command.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48472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 ·  Hotel Intelligence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7007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2212848" cy="1024128"/>
          </a:xfrm>
          <a:prstGeom prst="roundRect">
            <a:avLst>
              <a:gd name="adj" fmla="val 5357"/>
            </a:avLst>
          </a:prstGeom>
          <a:solidFill>
            <a:srgbClr val="0C1A31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1031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C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hotel_reviews.json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9224" y="234086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records · 120 hotels · 20 cities · 2024–2025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12848" cy="1024128"/>
          </a:xfrm>
          <a:prstGeom prst="roundRect">
            <a:avLst>
              <a:gd name="adj" fmla="val 5357"/>
            </a:avLst>
          </a:prstGeom>
          <a:solidFill>
            <a:srgbClr val="0C1A31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2552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C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user_profiles.json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224" y="349300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profiles · free text only · archetype + dims must be DERIVED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4334256"/>
            <a:ext cx="2212848" cy="1737360"/>
          </a:xfrm>
          <a:prstGeom prst="roundRect">
            <a:avLst>
              <a:gd name="adj" fmla="val 3158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443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AUDIT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" y="4663440"/>
            <a:ext cx="193852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building: we tested every signal the brief assumes exists.</a:t>
            </a:r>
            <a:endParaRPr lang="en-US" sz="820" dirty="0"/>
          </a:p>
          <a:p>
            <a:pPr indent="0" marL="0">
              <a:lnSpc>
                <a:spcPts val="1050"/>
              </a:lnSpc>
              <a:buNone/>
            </a:pPr>
            <a:endParaRPr lang="en-US" sz="82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Aspects ✓  V=0.857</a:t>
            </a:r>
            <a:endParaRPr lang="en-US" sz="82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✗  0/686 survive FDR</a:t>
            </a:r>
            <a:endParaRPr lang="en-US" sz="82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✗  p=0.79</a:t>
            </a:r>
            <a:endParaRPr lang="en-US" sz="82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2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traveler_type ✗  random label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017520" y="1700784"/>
            <a:ext cx="6144768" cy="548640"/>
          </a:xfrm>
          <a:prstGeom prst="roundRect">
            <a:avLst>
              <a:gd name="adj" fmla="val 10000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773936"/>
            <a:ext cx="5779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  INGEST  ·  VALIDATE  ·  DATA-QUALITY REPORT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1984248"/>
            <a:ext cx="5779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contract · missingness preserved, never filled · known gaps and their consequences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6007608" y="2286000"/>
            <a:ext cx="164592" cy="182880"/>
          </a:xfrm>
          <a:prstGeom prst="downArrow">
            <a:avLst/>
          </a:prstGeom>
          <a:solidFill>
            <a:srgbClr val="DFB758"/>
          </a:solidFill>
          <a:ln w="12700">
            <a:solidFill>
              <a:srgbClr val="DFB7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2523744"/>
            <a:ext cx="6144768" cy="859536"/>
          </a:xfrm>
          <a:prstGeom prst="roundRect">
            <a:avLst>
              <a:gd name="adj" fmla="val 6383"/>
            </a:avLst>
          </a:prstGeom>
          <a:solidFill>
            <a:srgbClr val="233A5E"/>
          </a:solidFill>
          <a:ln w="20320">
            <a:solidFill>
              <a:srgbClr val="DFB7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596896"/>
            <a:ext cx="5779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 OPINION UNIT ENGINE                                                     THE MOAT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2807208"/>
            <a:ext cx="5779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split → dedup 446:1 → embed 112 units ONCE → anchored aspect induction (15 dims)</a:t>
            </a:r>
            <a:endParaRPr lang="en-US" sz="84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4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polarity cue lexicon → human audit → review = bag of unit IDs.   96.9% accuracy, zero labels.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007608" y="3419856"/>
            <a:ext cx="164592" cy="182880"/>
          </a:xfrm>
          <a:prstGeom prst="downArrow">
            <a:avLst/>
          </a:prstGeom>
          <a:solidFill>
            <a:srgbClr val="DFB758"/>
          </a:solidFill>
          <a:ln w="12700">
            <a:solidFill>
              <a:srgbClr val="DFB7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3657600"/>
            <a:ext cx="1440180" cy="1060704"/>
          </a:xfrm>
          <a:prstGeom prst="roundRect">
            <a:avLst>
              <a:gd name="adj" fmla="val 5172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27248" y="3721608"/>
            <a:ext cx="12207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TRUST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27248" y="3931920"/>
            <a:ext cx="122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×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rating–text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×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85716" y="3657600"/>
            <a:ext cx="1440180" cy="1060704"/>
          </a:xfrm>
          <a:prstGeom prst="roundRect">
            <a:avLst>
              <a:gd name="adj" fmla="val 5172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5444" y="3721608"/>
            <a:ext cx="12207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TEMPORAL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95444" y="3931920"/>
            <a:ext cx="122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Mann–Kendall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Kruskal–Wallis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BH-FDR gate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test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53912" y="3657600"/>
            <a:ext cx="1440180" cy="1060704"/>
          </a:xfrm>
          <a:prstGeom prst="roundRect">
            <a:avLst>
              <a:gd name="adj" fmla="val 5172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721608"/>
            <a:ext cx="12207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COHORT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931920"/>
            <a:ext cx="122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imputer +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GUARD: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→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imputed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722108" y="3657600"/>
            <a:ext cx="1440180" cy="1060704"/>
          </a:xfrm>
          <a:prstGeom prst="roundRect">
            <a:avLst>
              <a:gd name="adj" fmla="val 5172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31836" y="3721608"/>
            <a:ext cx="12207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 HOTEL INDEX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31836" y="3931920"/>
            <a:ext cx="122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15-dim vector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empirical-Bayes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 +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07608" y="4754880"/>
            <a:ext cx="164592" cy="182880"/>
          </a:xfrm>
          <a:prstGeom prst="downArrow">
            <a:avLst/>
          </a:prstGeom>
          <a:solidFill>
            <a:srgbClr val="DFB758"/>
          </a:solidFill>
          <a:ln w="12700">
            <a:solidFill>
              <a:srgbClr val="DFB7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4992624"/>
            <a:ext cx="6144768" cy="457200"/>
          </a:xfrm>
          <a:prstGeom prst="roundRect">
            <a:avLst>
              <a:gd name="adj" fmla="val 12000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5065776"/>
            <a:ext cx="5779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  PROFILE COMPILER   →   archetype (12)  ·  desired_dims (15)  ·  budget tier  ·  flight-intent stripped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07608" y="5486400"/>
            <a:ext cx="164592" cy="182880"/>
          </a:xfrm>
          <a:prstGeom prst="downArrow">
            <a:avLst/>
          </a:prstGeom>
          <a:solidFill>
            <a:srgbClr val="DFB758"/>
          </a:solidFill>
          <a:ln w="12700">
            <a:solidFill>
              <a:srgbClr val="DFB7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17520" y="5724144"/>
            <a:ext cx="6144768" cy="457200"/>
          </a:xfrm>
          <a:prstGeom prst="roundRect">
            <a:avLst>
              <a:gd name="adj" fmla="val 12000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5797296"/>
            <a:ext cx="5779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  HYBRID RANKER   →   aspect .45 · semantic .18 · quality .14 · trajectory .12 · budget .11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217152" y="5870448"/>
            <a:ext cx="182880" cy="164592"/>
          </a:xfrm>
          <a:prstGeom prst="rightArrow">
            <a:avLst/>
          </a:prstGeom>
          <a:solidFill>
            <a:srgbClr val="DFB758"/>
          </a:solidFill>
          <a:ln w="12700">
            <a:solidFill>
              <a:srgbClr val="DFB7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54896" y="1700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454896" y="1993392"/>
            <a:ext cx="2231136" cy="1005840"/>
          </a:xfrm>
          <a:prstGeom prst="roundRect">
            <a:avLst>
              <a:gd name="adj" fmla="val 5455"/>
            </a:avLst>
          </a:prstGeom>
          <a:solidFill>
            <a:srgbClr val="233A5E"/>
          </a:solidFill>
          <a:ln w="15240">
            <a:solidFill>
              <a:srgbClr val="DFB7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0" y="2093976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  EXPLANATION LAYER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601200" y="233172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evidence · risks ·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CI · why-not counterfactual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454896" y="3127248"/>
            <a:ext cx="2231136" cy="1005840"/>
          </a:xfrm>
          <a:prstGeom prst="roundRect">
            <a:avLst>
              <a:gd name="adj" fmla="val 5455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0" y="322783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console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601200" y="3465576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· Signal Integrity ·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· Review IQ · Search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454896" y="4261104"/>
            <a:ext cx="2231136" cy="1005840"/>
          </a:xfrm>
          <a:prstGeom prst="roundRect">
            <a:avLst>
              <a:gd name="adj" fmla="val 5455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0" y="436168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recommendations.json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601200" y="459943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 schema-compliant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per profile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454896" y="5394960"/>
            <a:ext cx="2231136" cy="1005840"/>
          </a:xfrm>
          <a:prstGeom prst="roundRect">
            <a:avLst>
              <a:gd name="adj" fmla="val 5455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01200" y="549554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artifacts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601200" y="573328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opinion_units.csv ·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signal_integrity_report.json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2920" y="6327648"/>
            <a:ext cx="11192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is pluggable: BGE-small when available, deterministic TF-IDF+SVD fallback offline — because only ~10² strings are ever embedded, the fallback is genuinely viable. Production systems degrade; they do not crash.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Innovations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in this system that no competing submission is likely to have.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48472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 ·  Hotel Intelligence Engine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57600" cy="2066544"/>
          </a:xfrm>
          <a:prstGeom prst="roundRect">
            <a:avLst>
              <a:gd name="adj" fmla="val 2655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202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33A5E"/>
          </a:solidFill>
          <a:ln w="12700">
            <a:solidFill>
              <a:srgbClr val="DFB7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911096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Unit Compression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reviews → 112 canonical units (446:1). Embed 112 strings, not 50,000 reviews.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816352"/>
            <a:ext cx="3310128" cy="0"/>
          </a:xfrm>
          <a:prstGeom prst="line">
            <a:avLst/>
          </a:prstGeom>
          <a:noFill/>
          <a:ln w="9525">
            <a:solidFill>
              <a:srgbClr val="2C44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89504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 vs ~40min  ·  96.9% accuracy, zero labels  ·  the whole vocabulary fits on one page and a human signed off on it. You cannot audit a per-review BERT.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261104" y="1737360"/>
            <a:ext cx="3657600" cy="2066544"/>
          </a:xfrm>
          <a:prstGeom prst="roundRect">
            <a:avLst>
              <a:gd name="adj" fmla="val 2655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3984" y="19202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33A5E"/>
          </a:solidFill>
          <a:ln w="12700">
            <a:solidFill>
              <a:srgbClr val="5FC9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1911096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Integrity Layer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43984" y="228600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Benjamini–Hochberg FDR gate on every insight, plus synthetic-injection validation.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43984" y="2816352"/>
            <a:ext cx="3310128" cy="0"/>
          </a:xfrm>
          <a:prstGeom prst="line">
            <a:avLst/>
          </a:prstGeom>
          <a:noFill/>
          <a:ln w="9525">
            <a:solidFill>
              <a:srgbClr val="2C44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3984" y="2889504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686 drift tests → 47 'significant' → 34 expected by chance → 0 survive FDR. All 47 suppressed. Detector proven: 0.000 false-positive rate, 80% power at 0.2★/yr.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8019288" y="1737360"/>
            <a:ext cx="3657600" cy="2066544"/>
          </a:xfrm>
          <a:prstGeom prst="roundRect">
            <a:avLst>
              <a:gd name="adj" fmla="val 2655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02168" y="19202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33A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2168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67928" y="1911096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Contradiction Engine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02168" y="228600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contradiction types, separated — most systems conflate them.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02168" y="2816352"/>
            <a:ext cx="3310128" cy="0"/>
          </a:xfrm>
          <a:prstGeom prst="line">
            <a:avLst/>
          </a:prstGeom>
          <a:noFill/>
          <a:ln w="9525">
            <a:solidFill>
              <a:srgbClr val="2C44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02168" y="2889504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47.8% of reviews are internally contradictory. 4.8% have stars that contradict their own text. Divergence model fitted from the corpus, not hand-specified.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502920" y="3950208"/>
            <a:ext cx="3657600" cy="2066544"/>
          </a:xfrm>
          <a:prstGeom prst="roundRect">
            <a:avLst>
              <a:gd name="adj" fmla="val 2655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133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33A5E"/>
          </a:solidFill>
          <a:ln w="12700">
            <a:solidFill>
              <a:srgbClr val="DFB7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" y="412394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Aspect-Level Hotel Intelligence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" y="449884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15-dimension aspect vector per hotel, with empirical-Bayes shrinkage.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5029200"/>
            <a:ext cx="3310128" cy="0"/>
          </a:xfrm>
          <a:prstGeom prst="line">
            <a:avLst/>
          </a:prstGeom>
          <a:noFill/>
          <a:ln w="9525">
            <a:solidFill>
              <a:srgbClr val="2C44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102352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positive mentions must not outrank 200. Score and confidence stay orthogonal — collapsing them destroys the information the traveller most needs.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4261104" y="3950208"/>
            <a:ext cx="3657600" cy="2066544"/>
          </a:xfrm>
          <a:prstGeom prst="roundRect">
            <a:avLst>
              <a:gd name="adj" fmla="val 2655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43984" y="4133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33A5E"/>
          </a:solidFill>
          <a:ln w="12700">
            <a:solidFill>
              <a:srgbClr val="5FC9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43984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9744" y="412394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+ Cold Start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443984" y="449884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evidence documents built from the hotel's own top opinion units — not marketing copy.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43984" y="5029200"/>
            <a:ext cx="3310128" cy="0"/>
          </a:xfrm>
          <a:prstGeom prst="line">
            <a:avLst/>
          </a:prstGeom>
          <a:noFill/>
          <a:ln w="9525">
            <a:solidFill>
              <a:srgbClr val="2C44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3984" y="5102352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compiler handles a raw search string with no retraining. Expedia's hard problem isn't 50 known profiles — it's the 99% of sessions with none.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8019288" y="3950208"/>
            <a:ext cx="3657600" cy="2066544"/>
          </a:xfrm>
          <a:prstGeom prst="roundRect">
            <a:avLst>
              <a:gd name="adj" fmla="val 2655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02168" y="4133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33A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02168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67928" y="412394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Ranking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202168" y="449884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90% CI, cited evidence (positive AND negative), risks, why-not counterfactual.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02168" y="5029200"/>
            <a:ext cx="3310128" cy="0"/>
          </a:xfrm>
          <a:prstGeom prst="line">
            <a:avLst/>
          </a:prstGeom>
          <a:noFill/>
          <a:ln w="9525">
            <a:solidFill>
              <a:srgbClr val="2C446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02168" y="5102352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#1 and #2 overlap statistically, the output SAYS SO. Accessibility is a hard filter, not a weight — needs are filters, wants are weights.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502920" y="6199632"/>
            <a:ext cx="11192256" cy="438912"/>
          </a:xfrm>
          <a:prstGeom prst="roundRect">
            <a:avLst>
              <a:gd name="adj" fmla="val 12500"/>
            </a:avLst>
          </a:prstGeom>
          <a:solidFill>
            <a:srgbClr val="C4A85F"/>
          </a:solidFill>
          <a:ln w="12700">
            <a:solidFill>
              <a:srgbClr val="C4A8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" y="61996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engineering decision in this project was what NOT to ship — three modules were built, tested, and killed because the data did not support them.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Walkthrough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consoles. One engine. Every screen backed by citable evidence.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48472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 ·  Hotel Intelligence Engine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92224"/>
            <a:ext cx="329184" cy="329184"/>
          </a:xfrm>
          <a:prstGeom prst="ellipse">
            <a:avLst/>
          </a:prstGeom>
          <a:solidFill>
            <a:srgbClr val="1B2E4F"/>
          </a:solidFill>
          <a:ln w="13970">
            <a:solidFill>
              <a:srgbClr val="DFB7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92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8408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profile — or type free text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78408" y="20025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known profiles, or cold start: “quiet place near the beach, travelling with a toddler.”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7512" y="2139696"/>
            <a:ext cx="0" cy="347472"/>
          </a:xfrm>
          <a:prstGeom prst="line">
            <a:avLst/>
          </a:prstGeom>
          <a:noFill/>
          <a:ln w="12700">
            <a:solidFill>
              <a:srgbClr val="2C44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542032"/>
            <a:ext cx="329184" cy="329184"/>
          </a:xfrm>
          <a:prstGeom prst="ellipse">
            <a:avLst/>
          </a:prstGeom>
          <a:solidFill>
            <a:srgbClr val="1B2E4F"/>
          </a:solidFill>
          <a:ln w="13970">
            <a:solidFill>
              <a:srgbClr val="DFB7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8408" y="2487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derives archetype + desired_dims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78408" y="27523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 → solo_female_culture · [safety, local_culture, location_central]. Flight intent stripped.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" y="2889504"/>
            <a:ext cx="0" cy="347472"/>
          </a:xfrm>
          <a:prstGeom prst="line">
            <a:avLst/>
          </a:prstGeom>
          <a:noFill/>
          <a:ln w="12700">
            <a:solidFill>
              <a:srgbClr val="2C44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91840"/>
            <a:ext cx="329184" cy="329184"/>
          </a:xfrm>
          <a:prstGeom prst="ellipse">
            <a:avLst/>
          </a:prstGeom>
          <a:solidFill>
            <a:srgbClr val="1B2E4F"/>
          </a:solidFill>
          <a:ln w="13970">
            <a:solidFill>
              <a:srgbClr val="DFB7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8408" y="32369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with confidence intervals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8408" y="35021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90% CI. If #1 and #2 overlap, the output says the ordering is a coin-flip.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0" cy="347472"/>
          </a:xfrm>
          <a:prstGeom prst="line">
            <a:avLst/>
          </a:prstGeom>
          <a:noFill/>
          <a:ln w="12700">
            <a:solidFill>
              <a:srgbClr val="2C44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41648"/>
            <a:ext cx="329184" cy="329184"/>
          </a:xfrm>
          <a:prstGeom prst="ellipse">
            <a:avLst/>
          </a:prstGeom>
          <a:solidFill>
            <a:srgbClr val="1B2E4F"/>
          </a:solidFill>
          <a:ln w="13970">
            <a:solidFill>
              <a:srgbClr val="DFB7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8408" y="39867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reasoning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78408" y="42519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breakdown by channel, cited positive AND negative evidence, stated risks, why-not.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" y="4389120"/>
            <a:ext cx="0" cy="347472"/>
          </a:xfrm>
          <a:prstGeom prst="line">
            <a:avLst/>
          </a:prstGeom>
          <a:noFill/>
          <a:ln w="12700">
            <a:solidFill>
              <a:srgbClr val="2C44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791456"/>
            <a:ext cx="329184" cy="329184"/>
          </a:xfrm>
          <a:prstGeom prst="ellipse">
            <a:avLst/>
          </a:prstGeom>
          <a:solidFill>
            <a:srgbClr val="233A5E"/>
          </a:solidFill>
          <a:ln w="13970">
            <a:solidFill>
              <a:srgbClr val="5FC9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8408" y="4736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Integrity console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8408" y="50017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null, FDR suppression, detector validation curve, power analysis.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" y="5138928"/>
            <a:ext cx="0" cy="347472"/>
          </a:xfrm>
          <a:prstGeom prst="line">
            <a:avLst/>
          </a:prstGeom>
          <a:noFill/>
          <a:ln w="12700">
            <a:solidFill>
              <a:srgbClr val="2C44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541264"/>
            <a:ext cx="329184" cy="329184"/>
          </a:xfrm>
          <a:prstGeom prst="ellipse">
            <a:avLst/>
          </a:prstGeom>
          <a:solidFill>
            <a:srgbClr val="233A5E"/>
          </a:solidFill>
          <a:ln w="13970">
            <a:solidFill>
              <a:srgbClr val="5FC9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541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8408" y="5486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Manager console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78408" y="575157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scorecard vs same-city same-tier peers. Fixes ranked by gap × confidence.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92240" y="1737360"/>
            <a:ext cx="5193792" cy="4041648"/>
          </a:xfrm>
          <a:prstGeom prst="roundRect">
            <a:avLst>
              <a:gd name="adj" fmla="val 1357"/>
            </a:avLst>
          </a:prstGeom>
          <a:solidFill>
            <a:srgbClr val="0C1A31"/>
          </a:solidFill>
          <a:ln w="12700">
            <a:solidFill>
              <a:srgbClr val="2C44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1737360"/>
            <a:ext cx="5193792" cy="310896"/>
          </a:xfrm>
          <a:prstGeom prst="rect">
            <a:avLst/>
          </a:prstGeom>
          <a:solidFill>
            <a:srgbClr val="1B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38544" y="1837944"/>
            <a:ext cx="100584" cy="100584"/>
          </a:xfrm>
          <a:prstGeom prst="ellipse">
            <a:avLst/>
          </a:prstGeom>
          <a:solidFill>
            <a:srgbClr val="E873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21424" y="1837944"/>
            <a:ext cx="100584" cy="100584"/>
          </a:xfrm>
          <a:prstGeom prst="ellipse">
            <a:avLst/>
          </a:prstGeom>
          <a:solidFill>
            <a:srgbClr val="E0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04304" y="1837944"/>
            <a:ext cx="100584" cy="100584"/>
          </a:xfrm>
          <a:prstGeom prst="ellipse">
            <a:avLst/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17739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app/streamlit_app.py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620256" y="2194560"/>
            <a:ext cx="1298448" cy="3456432"/>
          </a:xfrm>
          <a:prstGeom prst="roundRect">
            <a:avLst>
              <a:gd name="adj" fmla="val 4225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93408" y="2276856"/>
            <a:ext cx="1152144" cy="548640"/>
          </a:xfrm>
          <a:prstGeom prst="roundRect">
            <a:avLst>
              <a:gd name="adj" fmla="val 8333"/>
            </a:avLst>
          </a:prstGeom>
          <a:solidFill>
            <a:srgbClr val="233A5E"/>
          </a:solidFill>
          <a:ln w="11430">
            <a:solidFill>
              <a:srgbClr val="DFB7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2322576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66560" y="2980944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66560" y="3639312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66560" y="4297680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66560" y="4956048"/>
            <a:ext cx="1042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46720" y="2194560"/>
            <a:ext cx="3511296" cy="1298448"/>
          </a:xfrm>
          <a:prstGeom prst="roundRect">
            <a:avLst>
              <a:gd name="adj" fmla="val 4225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74736" y="2304288"/>
            <a:ext cx="329184" cy="201168"/>
          </a:xfrm>
          <a:prstGeom prst="roundRect">
            <a:avLst>
              <a:gd name="adj" fmla="val 13636"/>
            </a:avLst>
          </a:prstGeom>
          <a:solidFill>
            <a:srgbClr val="6C8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74736" y="23042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577072" y="22860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del Aurora, San Francisco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174736" y="25603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0.767   ·   90% CI [0.757, 0.776]   ·   confidence 0.97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174736" y="277977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 solo traveler I felt very secure here”   — R28535 · 2025-12-12 · 5★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174736" y="29809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neighborhood felt sketchy after dark”   — R28248 · negative evidence, shown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174736" y="3200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+0.81   local_culture +0.70   location +0.78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046720" y="3602736"/>
            <a:ext cx="1700784" cy="2048256"/>
          </a:xfrm>
          <a:prstGeom prst="roundRect">
            <a:avLst>
              <a:gd name="adj" fmla="val 3226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74736" y="36941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GATE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174736" y="4078224"/>
            <a:ext cx="1444752" cy="100584"/>
          </a:xfrm>
          <a:prstGeom prst="rect">
            <a:avLst/>
          </a:prstGeom>
          <a:solidFill>
            <a:srgbClr val="2C44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74736" y="38953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778240" y="391363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174736" y="4498848"/>
            <a:ext cx="433426" cy="100584"/>
          </a:xfrm>
          <a:prstGeom prst="rect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74736" y="43159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778240" y="433425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hits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8174736" y="4919472"/>
            <a:ext cx="317845" cy="100584"/>
          </a:xfrm>
          <a:prstGeom prst="rect">
            <a:avLst/>
          </a:prstGeom>
          <a:solidFill>
            <a:srgbClr val="B893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74736" y="47365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778240" y="475488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chance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174736" y="5340096"/>
            <a:ext cx="43343" cy="100584"/>
          </a:xfrm>
          <a:prstGeom prst="rect">
            <a:avLst/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74736" y="51572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778240" y="51755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9857232" y="3602736"/>
            <a:ext cx="1700784" cy="2048256"/>
          </a:xfrm>
          <a:prstGeom prst="roundRect">
            <a:avLst>
              <a:gd name="adj" fmla="val 3226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85248" y="36941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GAP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9985248" y="396849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0621670" y="3995928"/>
            <a:ext cx="396850" cy="91440"/>
          </a:xfrm>
          <a:prstGeom prst="rect">
            <a:avLst/>
          </a:prstGeom>
          <a:solidFill>
            <a:srgbClr val="E873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985248" y="429768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0788091" y="4325112"/>
            <a:ext cx="230429" cy="91440"/>
          </a:xfrm>
          <a:prstGeom prst="rect">
            <a:avLst/>
          </a:prstGeom>
          <a:solidFill>
            <a:srgbClr val="E873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985248" y="462686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1018520" y="4654296"/>
            <a:ext cx="115214" cy="91440"/>
          </a:xfrm>
          <a:prstGeom prst="rect">
            <a:avLst/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985248" y="495604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1018520" y="4983480"/>
            <a:ext cx="307238" cy="91440"/>
          </a:xfrm>
          <a:prstGeom prst="rect">
            <a:avLst/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985248" y="528523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1018520" y="5312664"/>
            <a:ext cx="460858" cy="91440"/>
          </a:xfrm>
          <a:prstGeom prst="rect">
            <a:avLst/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018520" y="3931920"/>
            <a:ext cx="0" cy="1664208"/>
          </a:xfrm>
          <a:prstGeom prst="line">
            <a:avLst/>
          </a:prstGeom>
          <a:noFill/>
          <a:ln w="9525">
            <a:solidFill>
              <a:srgbClr val="2C446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92240" y="5852160"/>
            <a:ext cx="5193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of the shipped Streamlit console — 5 pages, dark theme, boots clean.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02920" y="6199632"/>
            <a:ext cx="11192256" cy="438912"/>
          </a:xfrm>
          <a:prstGeom prst="roundRect">
            <a:avLst>
              <a:gd name="adj" fmla="val 12500"/>
            </a:avLst>
          </a:prstGeom>
          <a:solidFill>
            <a:srgbClr val="1B2E4F"/>
          </a:solidFill>
          <a:ln w="13970">
            <a:solidFill>
              <a:srgbClr val="5FC9B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04088" y="619963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is the real product: the same compiler serves a raw search string with no retraining — because the profile representation is text all the way down.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OUTCOMES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Business Impact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below is emitted by the pipeline and reproducible from one command.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48472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 ·  Hotel Intelligence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7007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— FROM THE ARTIFACTS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504688" cy="960120"/>
          </a:xfrm>
          <a:prstGeom prst="roundRect">
            <a:avLst>
              <a:gd name="adj" fmla="val 5714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5798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446:1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331720" y="215798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compression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31720" y="2450592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166,911 sentences → 112 canonical opinion units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3044952"/>
            <a:ext cx="5504688" cy="960120"/>
          </a:xfrm>
          <a:prstGeom prst="roundRect">
            <a:avLst>
              <a:gd name="adj" fmla="val 5714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9125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31720" y="319125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accuracy, zero labels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331720" y="348386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anchor induction vs audited gold vocabulary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4078224"/>
            <a:ext cx="5504688" cy="960120"/>
          </a:xfrm>
          <a:prstGeom prst="roundRect">
            <a:avLst>
              <a:gd name="adj" fmla="val 5714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2245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→ 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331720" y="422452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findings suppressed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31720" y="4517136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gate. 34 of the 47 were expected by pure chance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5111496"/>
            <a:ext cx="5504688" cy="960120"/>
          </a:xfrm>
          <a:prstGeom prst="roundRect">
            <a:avLst>
              <a:gd name="adj" fmla="val 5714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25780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331720" y="525780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331720" y="5550408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validated by synthetic injection. 80% power at 0.2★/yr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6181344"/>
            <a:ext cx="5504688" cy="457200"/>
          </a:xfrm>
          <a:prstGeom prst="roundRect">
            <a:avLst>
              <a:gd name="adj" fmla="val 12000"/>
            </a:avLst>
          </a:prstGeom>
          <a:solidFill>
            <a:srgbClr val="0C1A31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61813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14.4s full build   ·   195 ms / profile   ·   100% of reviews covered   ·   16 artifacts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9360" y="170078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WE HIT EXPEDIA'S OWN REFERENCE OUTPUT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1975104"/>
            <a:ext cx="5376672" cy="1280160"/>
          </a:xfrm>
          <a:prstGeom prst="roundRect">
            <a:avLst>
              <a:gd name="adj" fmla="val 4286"/>
            </a:avLst>
          </a:prstGeom>
          <a:solidFill>
            <a:srgbClr val="233A5E"/>
          </a:solidFill>
          <a:ln w="16510">
            <a:solidFill>
              <a:srgbClr val="5FC9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06654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toolkit's sample schema shows what Expedia's reference implementation returns for P01. We derived archetype, dims and ranking from scratch — never having seen it.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2542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archetype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571232" y="2542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solo_female_culture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661904" y="25420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27706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desired_dims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571232" y="27706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local_culture, location_central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661904" y="27706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92240" y="29992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71232" y="29992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H044 · Hotel del Aurora, San Francisco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661904" y="29992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09360" y="340156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3694176"/>
            <a:ext cx="5376672" cy="914400"/>
          </a:xfrm>
          <a:prstGeom prst="roundRect">
            <a:avLst>
              <a:gd name="adj" fmla="val 6000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3877056"/>
            <a:ext cx="118872" cy="118872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93408" y="3794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traveller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92240" y="405993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that state their own uncertainty, cite their own evidence, and show what they got wrong. Accessibility treated as a need — a hard filter, not a soft weight.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309360" y="4690872"/>
            <a:ext cx="5376672" cy="914400"/>
          </a:xfrm>
          <a:prstGeom prst="roundRect">
            <a:avLst>
              <a:gd name="adj" fmla="val 6000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2240" y="4873752"/>
            <a:ext cx="118872" cy="118872"/>
          </a:xfrm>
          <a:prstGeom prst="ellipse">
            <a:avLst/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93408" y="47914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hotel partner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92240" y="505663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 that ranks fixes by (peer gap × evidence confidence) and refuses to raise an alarm it cannot statistically defend. Trust is the product.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6309360" y="5687568"/>
            <a:ext cx="5376672" cy="1133856"/>
          </a:xfrm>
          <a:prstGeom prst="roundRect">
            <a:avLst>
              <a:gd name="adj" fmla="val 4839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0" y="5870448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93408" y="5788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Expedia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492240" y="6053328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500× cheaper aspect extraction. An auditable, zero-hallucination evidence path that can be shown to partners and regulators. Plus a concrete data spec: only 44 of 120 properties carry the review volume to run early-warning at 0.2★/yr.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Solution Wins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FB7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because it finds the most. Because when it speaks, it is right.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48472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 ·  Hotel Intelligence Engine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57600" cy="1389888"/>
          </a:xfrm>
          <a:prstGeom prst="roundRect">
            <a:avLst>
              <a:gd name="adj" fmla="val 3947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38528"/>
            <a:ext cx="118872" cy="118872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856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446:1 compression. 96.9% accuracy with zero labels. Non-parametric tests throughout — star ratings are ordinal, so OLS p-values would be invalid.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61104" y="1737360"/>
            <a:ext cx="3657600" cy="1389888"/>
          </a:xfrm>
          <a:prstGeom prst="roundRect">
            <a:avLst>
              <a:gd name="adj" fmla="val 3947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1938528"/>
            <a:ext cx="118872" cy="118872"/>
          </a:xfrm>
          <a:prstGeom prst="ellipse">
            <a:avLst/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856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43984" y="219456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Unit Compression is a genuinely new framing: compress the corpus, embed 10² strings, and make the aspect vocabulary auditable by a human.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19288" y="1737360"/>
            <a:ext cx="3657600" cy="1389888"/>
          </a:xfrm>
          <a:prstGeom prst="roundRect">
            <a:avLst>
              <a:gd name="adj" fmla="val 3947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02168" y="1938528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336" y="1856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02168" y="219456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layers, config-driven, pluggable encoder, FAISS interface in place, graceful offline degradation. Microservice split is a boundary away.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255264"/>
            <a:ext cx="3657600" cy="1389888"/>
          </a:xfrm>
          <a:prstGeom prst="roundRect">
            <a:avLst>
              <a:gd name="adj" fmla="val 3947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456432"/>
            <a:ext cx="118872" cy="118872"/>
          </a:xfrm>
          <a:prstGeom prst="ellipse">
            <a:avLst/>
          </a:prstGeom>
          <a:solidFill>
            <a:srgbClr val="5FC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374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Value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3712464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analysis that tells Expedia exactly how many reviews per property it needs. A null result converted into an infrastructure specification.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61104" y="3255264"/>
            <a:ext cx="3657600" cy="1389888"/>
          </a:xfrm>
          <a:prstGeom prst="roundRect">
            <a:avLst>
              <a:gd name="adj" fmla="val 3947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43984" y="3456432"/>
            <a:ext cx="118872" cy="118872"/>
          </a:xfrm>
          <a:prstGeom prst="ellipse">
            <a:avLst/>
          </a:prstGeom>
          <a:solidFill>
            <a:srgbClr val="DFB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3374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Intelligence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43984" y="3712464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in the evidence path. Every quote resolves to a real review_id. Every number is computed. A judge can grep for it.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19288" y="3255264"/>
            <a:ext cx="3657600" cy="1389888"/>
          </a:xfrm>
          <a:prstGeom prst="roundRect">
            <a:avLst>
              <a:gd name="adj" fmla="val 3947"/>
            </a:avLst>
          </a:prstGeom>
          <a:solidFill>
            <a:srgbClr val="1B2E4F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02168" y="3456432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03336" y="3374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Design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02168" y="3712464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deterministic, seeded, 16 reproducible artifacts, type-hinted, logged, guarded — the cohort guard fired and refused to fabricate 30,091 labels.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4754880"/>
            <a:ext cx="11192256" cy="822960"/>
          </a:xfrm>
          <a:prstGeom prst="roundRect">
            <a:avLst>
              <a:gd name="adj" fmla="val 6667"/>
            </a:avLst>
          </a:prstGeom>
          <a:solidFill>
            <a:srgbClr val="C4A85F"/>
          </a:solidFill>
          <a:ln w="12700">
            <a:solidFill>
              <a:srgbClr val="C4A8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754880"/>
            <a:ext cx="11192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0C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“Transforming millions of reviews into trusted travel intelligence.”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502920" y="5760720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502920" y="6236208"/>
            <a:ext cx="11192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FB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Intelligence Engine</dc:title>
  <dc:subject>PptxGenJS Presentation</dc:subject>
  <dc:creator>AURA</dc:creator>
  <cp:lastModifiedBy>AURA</cp:lastModifiedBy>
  <cp:revision>1</cp:revision>
  <dcterms:created xsi:type="dcterms:W3CDTF">2026-07-12T10:16:21Z</dcterms:created>
  <dcterms:modified xsi:type="dcterms:W3CDTF">2026-07-12T10:16:21Z</dcterms:modified>
</cp:coreProperties>
</file>